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6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38" autoAdjust="0"/>
    <p:restoredTop sz="94610"/>
  </p:normalViewPr>
  <p:slideViewPr>
    <p:cSldViewPr snapToGrid="0" snapToObjects="1">
      <p:cViewPr>
        <p:scale>
          <a:sx n="50" d="100"/>
          <a:sy n="50" d="100"/>
        </p:scale>
        <p:origin x="1843" y="7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4542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5E6D6F9-7CA9-9418-533D-7170500DCA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3340" y="-1432560"/>
            <a:ext cx="12298680" cy="829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47666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0865815" y="38404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11094415" y="38404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1323015" y="384048"/>
            <a:ext cx="109728" cy="109728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~/iqra-university/projects $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IUSemPlanner</a:t>
            </a:r>
            <a:r>
              <a:rPr lang="en-US" sz="6000" b="1" dirty="0">
                <a:solidFill>
                  <a:srgbClr val="2DA4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.ai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Student Dashboard for Iqra University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0080" y="3611880"/>
            <a:ext cx="6949440" cy="2148840"/>
          </a:xfrm>
          <a:prstGeom prst="roundRect">
            <a:avLst>
              <a:gd name="adj" fmla="val 2553"/>
            </a:avLst>
          </a:prstGeom>
          <a:solidFill>
            <a:srgbClr val="F6F8FA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82219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250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project </a:t>
            </a:r>
            <a:r>
              <a:rPr lang="en-US" sz="12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1200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"Academic planning + ANN prediction"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427939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250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stack   </a:t>
            </a:r>
            <a:r>
              <a:rPr lang="en-US" sz="12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1200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"HTML · CSS · Vanilla JS · Supabase"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473659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250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ml       </a:t>
            </a:r>
            <a:r>
              <a:rPr lang="en-US" sz="12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1200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"Browser ANN + optional FastAPI"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5193792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8250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live      </a:t>
            </a:r>
            <a:r>
              <a:rPr lang="en-US" sz="12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</a:t>
            </a:r>
            <a:r>
              <a:rPr lang="en-US" sz="1200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"ctrlaltimran.com/IUSemPlanner"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955280" y="3611880"/>
            <a:ext cx="361188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88900" dist="25400" dir="5400000" algn="bl" rotWithShape="0">
              <a:srgbClr val="AAB1BB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0" y="382219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229600" y="420624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Syed Imran Murtaza</a:t>
            </a: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65196
</a:t>
            </a: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Raza</a:t>
            </a: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63234
Instructor: </a:t>
            </a: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 Muhammad Farhan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88575" y="63550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01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38404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" name="Shape 1"/>
          <p:cNvSpPr/>
          <p:nvPr/>
        </p:nvSpPr>
        <p:spPr>
          <a:xfrm>
            <a:off x="11094415" y="38404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4" name="Shape 2"/>
          <p:cNvSpPr/>
          <p:nvPr/>
        </p:nvSpPr>
        <p:spPr>
          <a:xfrm>
            <a:off x="11323015" y="384048"/>
            <a:ext cx="109728" cy="109728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C4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CONTEXT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Problem: Scattered Academic Data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Iqra University, IULMS holds the data — but students must hop across many pages and calculate everything by hand.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345643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88900" dist="25400" dir="5400000" algn="bl" rotWithShape="0">
              <a:srgbClr val="AAB1BB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96112" y="258775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6F8FA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2587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C4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54480" y="260604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CGPA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96112" y="3200400"/>
            <a:ext cx="29443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recalculate GPA &amp; CGPA by hand — slow and error-prone.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25696" y="2331720"/>
            <a:ext cx="345643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88900" dist="25400" dir="5400000" algn="bl" rotWithShape="0">
              <a:srgbClr val="AAB1BB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81728" y="258775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6F8FA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81728" y="2587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C4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340096" y="260604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risk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81728" y="3200400"/>
            <a:ext cx="29443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Debar/attendance danger is noticed too late to fix.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11312" y="2331720"/>
            <a:ext cx="345643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88900" dist="25400" dir="5400000" algn="bl" rotWithShape="0">
              <a:srgbClr val="AAB1BB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67344" y="2587752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6F8FA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67344" y="25877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C4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125712" y="260604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Clashing schedules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467344" y="3200400"/>
            <a:ext cx="29443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clashes, long gaps &amp; heavy days go unseen at registration.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4315968"/>
            <a:ext cx="345643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88900" dist="25400" dir="5400000" algn="bl" rotWithShape="0">
              <a:srgbClr val="AAB1BB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96112" y="4572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6F8FA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4572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C4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?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554480" y="4590288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prerequisites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96112" y="5184648"/>
            <a:ext cx="29443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Unclear which completed courses unlock future ones.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425696" y="4315968"/>
            <a:ext cx="345643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88900" dist="25400" dir="5400000" algn="bl" rotWithShape="0">
              <a:srgbClr val="AAB1BB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81728" y="4572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6F8FA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81728" y="4572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C4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340096" y="4590288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hopping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681728" y="5184648"/>
            <a:ext cx="29443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Transcript, attendance, marks &amp; exams live on separate IULMS pages.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211312" y="4315968"/>
            <a:ext cx="3456432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88900" dist="25400" dir="5400000" algn="bl" rotWithShape="0">
              <a:srgbClr val="AAB1BB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467344" y="457200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F6F8FA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67344" y="45720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BC4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9125712" y="4590288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decisions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8467344" y="5184648"/>
            <a:ext cx="2944368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bad registration choices, burnout, missed risks.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0088575" y="63550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02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38404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" name="Shape 1"/>
          <p:cNvSpPr/>
          <p:nvPr/>
        </p:nvSpPr>
        <p:spPr>
          <a:xfrm>
            <a:off x="11094415" y="38404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4" name="Shape 2"/>
          <p:cNvSpPr/>
          <p:nvPr/>
        </p:nvSpPr>
        <p:spPr>
          <a:xfrm>
            <a:off x="11323015" y="384048"/>
            <a:ext cx="109728" cy="109728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· SOLUTION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Smart Dashboard, One Click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lightweight web app: log in to IULMS, run a bookmarklet, and raw academic data becomes cards, charts, warnings &amp; predictions.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5074920" cy="3749040"/>
          </a:xfrm>
          <a:prstGeom prst="roundRect">
            <a:avLst>
              <a:gd name="adj" fmla="val 1463"/>
            </a:avLst>
          </a:prstGeom>
          <a:solidFill>
            <a:srgbClr val="F6F8FA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5146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how-it-works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926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Open IUSemPlanner.ai (guest or login)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14400" y="34290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Click bookmarklet inside IULMS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1440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Import profile · transcript · attendance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14400" y="4434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Save to localStorage (+ Supabase sync)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14400" y="4937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Analytics + ML generate insights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14400" y="5440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 Dashboard renders GPA · risk · plan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89320" y="2331720"/>
            <a:ext cx="5559552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88900" dist="25400" dir="5400000" algn="bl" rotWithShape="0">
              <a:srgbClr val="AAB1BB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263640" y="254203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 OBJECTIVES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294436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29400" y="294436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Unify transcript, GPA, attendance, timetable &amp; exams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263640" y="337413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29400" y="3374136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IULMS data via one-click bookmarklet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263640" y="380390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29400" y="3803904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clashes, long gaps, empty &amp; heavy days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263640" y="42336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629400" y="4233672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semester GPA and projected CGPA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6263640" y="4663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629400" y="4663440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 early on attendance &amp; academic risk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263640" y="509320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629400" y="5093208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 answering from student's own context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263640" y="552297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629400" y="5522976"/>
            <a:ext cx="47091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login + cloud sync across devices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10088575" y="63550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03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38404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" name="Shape 1"/>
          <p:cNvSpPr/>
          <p:nvPr/>
        </p:nvSpPr>
        <p:spPr>
          <a:xfrm>
            <a:off x="11094415" y="38404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4" name="Shape 2"/>
          <p:cNvSpPr/>
          <p:nvPr/>
        </p:nvSpPr>
        <p:spPr>
          <a:xfrm>
            <a:off x="11323015" y="384048"/>
            <a:ext cx="109728" cy="109728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· SCOPE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of the System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helper tool that reads the student's own data and presents it better — it does not replace the official IULMS portal.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539496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88900" dist="25400" dir="5400000" algn="bl" rotWithShape="0">
              <a:srgbClr val="AAB1BB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560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60120" y="30175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Profile &amp; transcript import from IULMS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60120" y="339242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Attendance tracking with risk labels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60120" y="376732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Weekly timetable &amp; current courses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60120" y="414223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Midterm + exam schedule import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60120" y="4517136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CGPA &amp; semester GPA prediction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60120" y="48920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Searchable course knowledge base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60120" y="526694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Planner: gap &amp; clash detection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60120" y="5641848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summary, chat + Supabase cloud sync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153912" y="2331720"/>
            <a:ext cx="5394960" cy="3794760"/>
          </a:xfrm>
          <a:prstGeom prst="roundRect">
            <a:avLst>
              <a:gd name="adj" fmla="val 1928"/>
            </a:avLst>
          </a:prstGeom>
          <a:solidFill>
            <a:srgbClr val="F6F8FA"/>
          </a:solidFill>
          <a:ln w="12700">
            <a:solidFill>
              <a:srgbClr val="E3E7EC"/>
            </a:solidFill>
            <a:prstDash val="solid"/>
          </a:ln>
          <a:effectLst>
            <a:outerShdw blurRad="88900" dist="25400" dir="5400000" algn="bl" rotWithShape="0">
              <a:srgbClr val="AAB1BB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28232" y="2560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C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</a:t>
            </a:r>
            <a:r>
              <a:rPr lang="en-US" sz="16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SCOPE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73952" y="30632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Does NOT modify official IULMS records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73952" y="3721608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Does NOT register courses for the student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73952" y="4379976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ML trained on synthetic data, not real records (yet)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73952" y="5038344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an official university product (unless adopted)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73952" y="56235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as an honest, supplementary academic-success tool.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88575" y="63550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04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38404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" name="Shape 1"/>
          <p:cNvSpPr/>
          <p:nvPr/>
        </p:nvSpPr>
        <p:spPr>
          <a:xfrm>
            <a:off x="11094415" y="38404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4" name="Shape 2"/>
          <p:cNvSpPr/>
          <p:nvPr/>
        </p:nvSpPr>
        <p:spPr>
          <a:xfrm>
            <a:off x="11323015" y="384048"/>
            <a:ext cx="109728" cy="109728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250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· STACK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but lightweight — runs on plain static hosting, scales up to a VPS ML backend when needed.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345643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88900" dist="25400" dir="5400000" algn="bl" rotWithShape="0">
              <a:srgbClr val="AAB1BB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468880"/>
            <a:ext cx="128016" cy="128016"/>
          </a:xfrm>
          <a:prstGeom prst="ellipse">
            <a:avLst/>
          </a:prstGeom>
          <a:solidFill>
            <a:srgbClr val="0969DA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2386584"/>
            <a:ext cx="2816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68680" y="2697480"/>
            <a:ext cx="2999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· CSS3 · iOS-style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2990088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responsive cards, tabs &amp; mobile UI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25696" y="2240280"/>
            <a:ext cx="345643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88900" dist="25400" dir="5400000" algn="bl" rotWithShape="0">
              <a:srgbClr val="AAB1BB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54296" y="2468880"/>
            <a:ext cx="128016" cy="128016"/>
          </a:xfrm>
          <a:prstGeom prst="ellipse">
            <a:avLst/>
          </a:prstGeom>
          <a:solidFill>
            <a:srgbClr val="BC4C00"/>
          </a:solidFill>
          <a:ln/>
        </p:spPr>
      </p:sp>
      <p:sp>
        <p:nvSpPr>
          <p:cNvPr id="15" name="Text 13"/>
          <p:cNvSpPr/>
          <p:nvPr/>
        </p:nvSpPr>
        <p:spPr>
          <a:xfrm>
            <a:off x="4882896" y="2386584"/>
            <a:ext cx="2816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Logic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654296" y="2697480"/>
            <a:ext cx="2999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C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JavaScript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54296" y="2990088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parsing, rendering, analytics &amp; ML engine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211312" y="2240280"/>
            <a:ext cx="345643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88900" dist="25400" dir="5400000" algn="bl" rotWithShape="0">
              <a:srgbClr val="AAB1BB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39912" y="2468880"/>
            <a:ext cx="128016" cy="128016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20" name="Text 18"/>
          <p:cNvSpPr/>
          <p:nvPr/>
        </p:nvSpPr>
        <p:spPr>
          <a:xfrm>
            <a:off x="8668512" y="2386584"/>
            <a:ext cx="2816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439912" y="2697480"/>
            <a:ext cx="2999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Auth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439912" y="2990088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Email/password, sessions &amp; Google OAuth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" y="3776472"/>
            <a:ext cx="345643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88900" dist="25400" dir="5400000" algn="bl" rotWithShape="0">
              <a:srgbClr val="AAB1BB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68680" y="4005072"/>
            <a:ext cx="128016" cy="128016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3922776"/>
            <a:ext cx="2816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68680" y="4233672"/>
            <a:ext cx="2999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PostgreSQL (JSONB)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68680" y="452628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JSON row of full app state per user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425696" y="3776472"/>
            <a:ext cx="345643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88900" dist="25400" dir="5400000" algn="bl" rotWithShape="0">
              <a:srgbClr val="AAB1BB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54296" y="4005072"/>
            <a:ext cx="128016" cy="128016"/>
          </a:xfrm>
          <a:prstGeom prst="ellipse">
            <a:avLst/>
          </a:prstGeom>
          <a:solidFill>
            <a:srgbClr val="0969DA"/>
          </a:solidFill>
          <a:ln/>
        </p:spPr>
      </p:sp>
      <p:sp>
        <p:nvSpPr>
          <p:cNvPr id="30" name="Text 28"/>
          <p:cNvSpPr/>
          <p:nvPr/>
        </p:nvSpPr>
        <p:spPr>
          <a:xfrm>
            <a:off x="4882896" y="3922776"/>
            <a:ext cx="2816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654296" y="4233672"/>
            <a:ext cx="2999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localStorage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654296" y="452628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guest-mode saving, works offline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211312" y="3776472"/>
            <a:ext cx="345643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88900" dist="25400" dir="5400000" algn="bl" rotWithShape="0">
              <a:srgbClr val="AAB1BB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439912" y="4005072"/>
            <a:ext cx="128016" cy="128016"/>
          </a:xfrm>
          <a:prstGeom prst="ellipse">
            <a:avLst/>
          </a:prstGeom>
          <a:solidFill>
            <a:srgbClr val="BC4C00"/>
          </a:solidFill>
          <a:ln/>
        </p:spPr>
      </p:sp>
      <p:sp>
        <p:nvSpPr>
          <p:cNvPr id="35" name="Text 33"/>
          <p:cNvSpPr/>
          <p:nvPr/>
        </p:nvSpPr>
        <p:spPr>
          <a:xfrm>
            <a:off x="8668512" y="3922776"/>
            <a:ext cx="2816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 — Browser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8439912" y="4233672"/>
            <a:ext cx="2999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C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JS ANN (js/ml.js)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439912" y="4526280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Neural-network ensemble runs in the browser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" y="5312664"/>
            <a:ext cx="345643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88900" dist="25400" dir="5400000" algn="bl" rotWithShape="0">
              <a:srgbClr val="AAB1BB">
                <a:alpha val="18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68680" y="5541264"/>
            <a:ext cx="128016" cy="128016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40" name="Text 38"/>
          <p:cNvSpPr/>
          <p:nvPr/>
        </p:nvSpPr>
        <p:spPr>
          <a:xfrm>
            <a:off x="1097280" y="5458968"/>
            <a:ext cx="2816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 — Backend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868680" y="5769864"/>
            <a:ext cx="2999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scikit-learn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68680" y="6062472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/health &amp; /predict on a VPS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425696" y="5312664"/>
            <a:ext cx="3456432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88900" dist="25400" dir="5400000" algn="bl" rotWithShape="0">
              <a:srgbClr val="AAB1BB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54296" y="5541264"/>
            <a:ext cx="128016" cy="128016"/>
          </a:xfrm>
          <a:prstGeom prst="ellipse">
            <a:avLst/>
          </a:prstGeom>
          <a:solidFill>
            <a:srgbClr val="8250DF"/>
          </a:solidFill>
          <a:ln/>
        </p:spPr>
      </p:sp>
      <p:sp>
        <p:nvSpPr>
          <p:cNvPr id="45" name="Text 43"/>
          <p:cNvSpPr/>
          <p:nvPr/>
        </p:nvSpPr>
        <p:spPr>
          <a:xfrm>
            <a:off x="4882896" y="5458968"/>
            <a:ext cx="28163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Module</a:t>
            </a:r>
            <a:endParaRPr lang="en-US" sz="1250" dirty="0"/>
          </a:p>
        </p:txBody>
      </p:sp>
      <p:sp>
        <p:nvSpPr>
          <p:cNvPr id="46" name="Text 44"/>
          <p:cNvSpPr/>
          <p:nvPr/>
        </p:nvSpPr>
        <p:spPr>
          <a:xfrm>
            <a:off x="4654296" y="5769864"/>
            <a:ext cx="29992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JS AI calls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4654296" y="6062472"/>
            <a:ext cx="2999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summaries, tips &amp; chat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0088575" y="63550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05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38404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" name="Shape 1"/>
          <p:cNvSpPr/>
          <p:nvPr/>
        </p:nvSpPr>
        <p:spPr>
          <a:xfrm>
            <a:off x="11094415" y="38404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4" name="Shape 2"/>
          <p:cNvSpPr/>
          <p:nvPr/>
        </p:nvSpPr>
        <p:spPr>
          <a:xfrm>
            <a:off x="11323015" y="384048"/>
            <a:ext cx="109728" cy="109728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· ARCHITECTURE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modular, client-first design. The frontend does the heavy lifting; Supabase and the FastAPI ML API are optional add-ons.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617720" y="3703320"/>
            <a:ext cx="2971800" cy="1143000"/>
          </a:xfrm>
          <a:prstGeom prst="roundRect">
            <a:avLst>
              <a:gd name="adj" fmla="val 6400"/>
            </a:avLst>
          </a:prstGeom>
          <a:solidFill>
            <a:srgbClr val="F6F8FA"/>
          </a:solidFill>
          <a:ln w="19050">
            <a:solidFill>
              <a:srgbClr val="2DA44E"/>
            </a:solidFill>
            <a:prstDash val="solid"/>
          </a:ln>
          <a:effectLst>
            <a:outerShdw blurRad="76200" dist="25400" dir="5400000" algn="bl" rotWithShape="0">
              <a:srgbClr val="AAB1BB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9160" y="3813048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BROWSER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709160" y="420624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app · stores state · executes bookmarklet · runs ANN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17720" y="2286000"/>
            <a:ext cx="2971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9050">
            <a:solidFill>
              <a:srgbClr val="BC4C00"/>
            </a:solidFill>
            <a:prstDash val="solid"/>
          </a:ln>
          <a:effectLst>
            <a:outerShdw blurRad="76200" dist="25400" dir="5400000" algn="bl" rotWithShape="0">
              <a:srgbClr val="AAB1BB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2395728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IULMS PORTAL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09160" y="2788920"/>
            <a:ext cx="2788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source of academic data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99048" y="3246120"/>
            <a:ext cx="0" cy="457200"/>
          </a:xfrm>
          <a:prstGeom prst="line">
            <a:avLst/>
          </a:prstGeom>
          <a:noFill/>
          <a:ln w="19050">
            <a:solidFill>
              <a:srgbClr val="5B6470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6400800" y="3291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C4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bookmarklet import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22960" y="370332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0969DA"/>
            </a:solidFill>
            <a:prstDash val="solid"/>
          </a:ln>
          <a:effectLst>
            <a:outerShdw blurRad="76200" dist="25400" dir="5400000" algn="bl" rotWithShape="0">
              <a:srgbClr val="AAB1BB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38130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FRONTEND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2062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 · styles.css · js/* modules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17720" y="4270248"/>
            <a:ext cx="0" cy="0"/>
          </a:xfrm>
          <a:prstGeom prst="line">
            <a:avLst/>
          </a:prstGeom>
          <a:noFill/>
          <a:ln w="19050">
            <a:solidFill>
              <a:srgbClr val="5B6470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331720" y="5440680"/>
            <a:ext cx="3017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8250DF"/>
            </a:solidFill>
            <a:prstDash val="solid"/>
          </a:ln>
          <a:effectLst>
            <a:outerShdw blurRad="76200" dist="25400" dir="5400000" algn="bl" rotWithShape="0">
              <a:srgbClr val="AAB1BB">
                <a:alpha val="1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423160" y="555040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2423160" y="59436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(Google/email) + JSONB cloud sync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120640" y="4846320"/>
            <a:ext cx="0" cy="594360"/>
          </a:xfrm>
          <a:prstGeom prst="line">
            <a:avLst/>
          </a:prstGeom>
          <a:noFill/>
          <a:ln w="19050">
            <a:solidFill>
              <a:srgbClr val="5B6470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58000" y="5440680"/>
            <a:ext cx="3017520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9050">
            <a:solidFill>
              <a:srgbClr val="2DA44E"/>
            </a:solidFill>
            <a:prstDash val="solid"/>
          </a:ln>
          <a:effectLst>
            <a:outerShdw blurRad="76200" dist="25400" dir="5400000" algn="bl" rotWithShape="0">
              <a:srgbClr val="AAB1BB">
                <a:alpha val="1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49440" y="555040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FASTAPI ML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49440" y="59436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/health · /predict · scikit-learn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766560" y="4846320"/>
            <a:ext cx="1097280" cy="594360"/>
          </a:xfrm>
          <a:prstGeom prst="line">
            <a:avLst/>
          </a:prstGeom>
          <a:noFill/>
          <a:ln w="19050">
            <a:solidFill>
              <a:srgbClr val="5B6470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641080" y="3703320"/>
            <a:ext cx="27432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BC4C00"/>
            </a:solidFill>
            <a:prstDash val="solid"/>
          </a:ln>
          <a:effectLst>
            <a:outerShdw blurRad="76200" dist="25400" dir="5400000" algn="bl" rotWithShape="0">
              <a:srgbClr val="AAB1BB">
                <a:alpha val="1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732520" y="381304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ANN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732520" y="420624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ML engine — no server required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589520" y="4270248"/>
            <a:ext cx="1051560" cy="0"/>
          </a:xfrm>
          <a:prstGeom prst="line">
            <a:avLst/>
          </a:prstGeom>
          <a:noFill/>
          <a:ln w="19050">
            <a:solidFill>
              <a:srgbClr val="5B6470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822960" y="6510528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Dotted boxes are optional — app works fully offline in guest mode.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0088575" y="63550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06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38404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" name="Shape 1"/>
          <p:cNvSpPr/>
          <p:nvPr/>
        </p:nvSpPr>
        <p:spPr>
          <a:xfrm>
            <a:off x="11094415" y="38404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4" name="Shape 2"/>
          <p:cNvSpPr/>
          <p:nvPr/>
        </p:nvSpPr>
        <p:spPr>
          <a:xfrm>
            <a:off x="11323015" y="384048"/>
            <a:ext cx="109728" cy="109728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· FRONTEND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Frontend Design &amp; Implementation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largest part of the system — a tab-based dashboard where each tab serves a distinct academic need.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4572000" cy="3840480"/>
          </a:xfrm>
          <a:prstGeom prst="roundRect">
            <a:avLst>
              <a:gd name="adj" fmla="val 1429"/>
            </a:avLst>
          </a:prstGeom>
          <a:solidFill>
            <a:srgbClr val="F6F8FA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45059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js/  — module map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85292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app.js</a:t>
            </a:r>
            <a:r>
              <a:rPr lang="en-US" sz="105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state · auth · ML orchestration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" y="325526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views.js</a:t>
            </a:r>
            <a:r>
              <a:rPr lang="en-US" sz="105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renders tabs, modals &amp; ML Lab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65760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parser.js</a:t>
            </a:r>
            <a:r>
              <a:rPr lang="en-US" sz="105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parses IULMS payloads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14400" y="405993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bookmarklet.js</a:t>
            </a:r>
            <a:r>
              <a:rPr lang="en-US" sz="105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scrapes IULMS pages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" y="446227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analytics.js</a:t>
            </a:r>
            <a:r>
              <a:rPr lang="en-US" sz="105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GPA · risk · gaps · clashes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4400" y="486460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ai.js</a:t>
            </a:r>
            <a:r>
              <a:rPr lang="en-US" sz="105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builds context, calls AI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5266944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ml.js</a:t>
            </a:r>
            <a:r>
              <a:rPr lang="en-US" sz="105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browser ANN + VPS client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14400" y="56692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supabase.js</a:t>
            </a:r>
            <a:r>
              <a:rPr lang="en-US" sz="105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cloud load / save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806440" y="228600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88900" dist="25400" dir="5400000" algn="bl" rotWithShape="0">
              <a:srgbClr val="AAB1BB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07608" y="24048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007608" y="27249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+ warning cards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805672" y="228600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88900" dist="25400" dir="5400000" algn="bl" rotWithShape="0">
              <a:srgbClr val="AAB1BB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006840" y="240487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006840" y="2724912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IULMS schedule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806440" y="3355848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88900" dist="25400" dir="5400000" algn="bl" rotWithShape="0">
              <a:srgbClr val="AAB1BB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007608" y="3474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007608" y="3794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vs pending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805672" y="3355848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88900" dist="25400" dir="5400000" algn="bl" rotWithShape="0">
              <a:srgbClr val="AAB1BB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006840" y="347472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006840" y="379476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· credits · GPA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806440" y="4425696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88900" dist="25400" dir="5400000" algn="bl" rotWithShape="0">
              <a:srgbClr val="AAB1BB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6007608" y="45445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07608" y="48646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Searchable knowledge base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805672" y="4425696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88900" dist="25400" dir="5400000" algn="bl" rotWithShape="0">
              <a:srgbClr val="AAB1BB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006840" y="454456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Planner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006840" y="486460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Gaps, clashes &amp; decisions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806440" y="5495544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88900" dist="25400" dir="5400000" algn="bl" rotWithShape="0">
              <a:srgbClr val="AAB1BB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007608" y="56144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007608" y="593445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Data-aware chat &amp; summary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805672" y="5495544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88900" dist="25400" dir="5400000" algn="bl" rotWithShape="0">
              <a:srgbClr val="AAB1BB">
                <a:alpha val="18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9006840" y="5614416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ML/ANN Lab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9006840" y="5934456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grade predictor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10088575" y="63550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07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38404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" name="Shape 1"/>
          <p:cNvSpPr/>
          <p:nvPr/>
        </p:nvSpPr>
        <p:spPr>
          <a:xfrm>
            <a:off x="11094415" y="38404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4" name="Shape 2"/>
          <p:cNvSpPr/>
          <p:nvPr/>
        </p:nvSpPr>
        <p:spPr>
          <a:xfrm>
            <a:off x="11323015" y="384048"/>
            <a:ext cx="109728" cy="109728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· BACKEND + DATA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Backend &amp; Database Design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backends: Supabase for accounts &amp; storage, and an optional FastAPI service for ML. Data is stored as one JSON blob per user.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5852160" cy="3794760"/>
          </a:xfrm>
          <a:prstGeom prst="roundRect">
            <a:avLst>
              <a:gd name="adj" fmla="val 1446"/>
            </a:avLst>
          </a:prstGeom>
          <a:solidFill>
            <a:srgbClr val="F6F8FA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24871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user_data — schema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2880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250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</a:t>
            </a:r>
            <a:r>
              <a:rPr lang="en-US" sz="11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public.user_data (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914400" y="320954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user_id    </a:t>
            </a:r>
            <a:r>
              <a:rPr lang="en-US" sz="115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uuid primary key,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35387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data       </a:t>
            </a:r>
            <a:r>
              <a:rPr lang="en-US" sz="115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jsonb not null,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914400" y="386791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0969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updated_at </a:t>
            </a:r>
            <a:r>
              <a:rPr lang="en-US" sz="115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timestamptz );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914400" y="4197096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914400" y="45262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Row Level Security ON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914400" y="4855464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250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 </a:t>
            </a:r>
            <a:r>
              <a:rPr lang="en-US" sz="1150" dirty="0">
                <a:solidFill>
                  <a:srgbClr val="BC4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"read own"  </a:t>
            </a:r>
            <a:r>
              <a:rPr lang="en-US" sz="115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auth.uid()=user_id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14400" y="518464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250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 </a:t>
            </a:r>
            <a:r>
              <a:rPr lang="en-US" sz="1150" dirty="0">
                <a:solidFill>
                  <a:srgbClr val="BC4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"insert own" </a:t>
            </a:r>
            <a:r>
              <a:rPr lang="en-US" sz="115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 check (...)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914400" y="551383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250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 </a:t>
            </a:r>
            <a:r>
              <a:rPr lang="en-US" sz="1150" dirty="0">
                <a:solidFill>
                  <a:srgbClr val="BC4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"update own" </a:t>
            </a:r>
            <a:r>
              <a:rPr lang="en-US" sz="115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(...)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675120" y="2331720"/>
            <a:ext cx="4873752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88900" dist="25400" dir="5400000" algn="bl" rotWithShape="0">
              <a:srgbClr val="AAB1BB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903720" y="2468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FASTAPI ENDPOINTS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903720" y="28346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 </a:t>
            </a:r>
            <a:r>
              <a:rPr lang="en-US" sz="12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  </a:t>
            </a:r>
            <a:r>
              <a:rPr 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model info, MAE, engine
</a:t>
            </a:r>
            <a:r>
              <a:rPr lang="en-US" sz="1250" b="1" dirty="0">
                <a:solidFill>
                  <a:srgbClr val="BC4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POST </a:t>
            </a:r>
            <a:r>
              <a:rPr lang="en-US" sz="12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/predict </a:t>
            </a:r>
            <a:r>
              <a:rPr lang="en-US" sz="12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8 features → grade pts + uncertainty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75120" y="4297680"/>
            <a:ext cx="487375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88900" dist="25400" dir="5400000" algn="bl" rotWithShape="0">
              <a:srgbClr val="AAB1BB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03720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JSONB?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903720" y="4773168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Data is user- and dashboard-specific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903720" y="511149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Keeps the database simple to manage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903720" y="5449824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new fields without schema changes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903720" y="578815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Frontend already holds full state as one blob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088575" y="63550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08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38404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" name="Shape 1"/>
          <p:cNvSpPr/>
          <p:nvPr/>
        </p:nvSpPr>
        <p:spPr>
          <a:xfrm>
            <a:off x="11094415" y="38404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4" name="Shape 2"/>
          <p:cNvSpPr/>
          <p:nvPr/>
        </p:nvSpPr>
        <p:spPr>
          <a:xfrm>
            <a:off x="11323015" y="384048"/>
            <a:ext cx="109728" cy="109728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C4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· MACHINE LEARNING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/ ANN Module (v2.4)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feed-forward Artificial Neural Network (MLP) predicts academic performance from current marks, attendance &amp; history.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10908792" cy="1143000"/>
          </a:xfrm>
          <a:prstGeom prst="roundRect">
            <a:avLst>
              <a:gd name="adj" fmla="val 4800"/>
            </a:avLst>
          </a:prstGeom>
          <a:solidFill>
            <a:srgbClr val="F6F8FA"/>
          </a:solidFill>
          <a:ln w="12700">
            <a:solidFill>
              <a:srgbClr val="E3E7E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3957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143000" y="2697480"/>
            <a:ext cx="530352" cy="53035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0969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269748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96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783080" y="277977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709928" y="2962656"/>
            <a:ext cx="45720" cy="0"/>
          </a:xfrm>
          <a:prstGeom prst="line">
            <a:avLst/>
          </a:prstGeom>
          <a:noFill/>
          <a:ln/>
        </p:spPr>
      </p:sp>
      <p:sp>
        <p:nvSpPr>
          <p:cNvPr id="14" name="Shape 12"/>
          <p:cNvSpPr/>
          <p:nvPr/>
        </p:nvSpPr>
        <p:spPr>
          <a:xfrm>
            <a:off x="3685032" y="2697480"/>
            <a:ext cx="530352" cy="53035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250D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85032" y="269748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325112" y="277977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· tanh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251960" y="2962656"/>
            <a:ext cx="45720" cy="0"/>
          </a:xfrm>
          <a:prstGeom prst="line">
            <a:avLst/>
          </a:prstGeom>
          <a:noFill/>
          <a:ln/>
        </p:spPr>
      </p:sp>
      <p:sp>
        <p:nvSpPr>
          <p:cNvPr id="18" name="Shape 16"/>
          <p:cNvSpPr/>
          <p:nvPr/>
        </p:nvSpPr>
        <p:spPr>
          <a:xfrm>
            <a:off x="6227064" y="2697480"/>
            <a:ext cx="530352" cy="53035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8250D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27064" y="269748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250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67144" y="277977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· tanh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793992" y="2962656"/>
            <a:ext cx="45720" cy="0"/>
          </a:xfrm>
          <a:prstGeom prst="line">
            <a:avLst/>
          </a:prstGeom>
          <a:noFill/>
          <a:ln/>
        </p:spPr>
      </p:sp>
      <p:sp>
        <p:nvSpPr>
          <p:cNvPr id="22" name="Shape 20"/>
          <p:cNvSpPr/>
          <p:nvPr/>
        </p:nvSpPr>
        <p:spPr>
          <a:xfrm>
            <a:off x="8769096" y="2697480"/>
            <a:ext cx="530352" cy="530352"/>
          </a:xfrm>
          <a:prstGeom prst="ellipse">
            <a:avLst/>
          </a:prstGeom>
          <a:solidFill>
            <a:srgbClr val="FFFFFF"/>
          </a:solidFill>
          <a:ln w="25400">
            <a:solidFill>
              <a:srgbClr val="2DA44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69096" y="269748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409176" y="2779776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· linear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863840" y="23957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backprop · </a:t>
            </a:r>
            <a:r>
              <a:rPr lang="en-US" sz="11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5-network ensemble · bootstrap starts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3703320"/>
            <a:ext cx="5394960" cy="2423160"/>
          </a:xfrm>
          <a:prstGeom prst="roundRect">
            <a:avLst>
              <a:gd name="adj" fmla="val 3019"/>
            </a:avLst>
          </a:prstGeom>
          <a:solidFill>
            <a:srgbClr val="F6F8FA"/>
          </a:solidFill>
          <a:ln w="12700">
            <a:solidFill>
              <a:srgbClr val="E3E7EC"/>
            </a:solidFill>
            <a:prstDash val="solid"/>
          </a:ln>
          <a:effectLst>
            <a:outerShdw blurRad="88900" dist="25400" dir="5400000" algn="bl" rotWithShape="0">
              <a:srgbClr val="AAB1BB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14400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BC4C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INPUT FEATURES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14400" y="42245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 Midterm /20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3520440" y="422452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 Quiz /10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914400" y="46360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 Project /10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3520440" y="463600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 Attendance %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914400" y="504748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 Prior CGPA /4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3520440" y="504748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 Credit hours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914400" y="54589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 Lab flag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3520440" y="5458968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›  Course level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153912" y="3703320"/>
            <a:ext cx="539496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88900" dist="25400" dir="5400000" algn="bl" rotWithShape="0">
              <a:srgbClr val="AAB1BB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428232" y="38404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PREDICTED OUTPUTS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428232" y="422452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Expected grade points &amp; letter grade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28232" y="460857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SGPA + projected CGPA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428232" y="499262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Fail risk &amp; attendance/debar risk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428232" y="537667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Confidence score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428232" y="57607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Occlusion-based explainability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0088575" y="63550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09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38404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" name="Shape 1"/>
          <p:cNvSpPr/>
          <p:nvPr/>
        </p:nvSpPr>
        <p:spPr>
          <a:xfrm>
            <a:off x="11094415" y="38404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4" name="Shape 2"/>
          <p:cNvSpPr/>
          <p:nvPr/>
        </p:nvSpPr>
        <p:spPr>
          <a:xfrm>
            <a:off x="11323015" y="384048"/>
            <a:ext cx="109728" cy="109728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· PRIVACY + TESTING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Security, Privacy &amp; Validation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600200"/>
            <a:ext cx="10789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only reads the student's own data, never modifies IULMS, and is validated across modes &amp; devices.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331720"/>
            <a:ext cx="539496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88900" dist="25400" dir="5400000" algn="bl" rotWithShape="0">
              <a:srgbClr val="AAB1BB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2514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</a:t>
            </a: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PRIVACY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2971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Never changes official IULMS records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960120" y="34015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Guest mode: data stays in localStorage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60120" y="383133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Account mode: stored in user's own row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960120" y="426110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Row Level Security isolates each user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60120" y="469087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Anon public key is safe — RLS controls access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60120" y="51206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ML API is stateless — no stored records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960120" y="555040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Public deploys need consent + data-delete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53912" y="2331720"/>
            <a:ext cx="5394960" cy="3794760"/>
          </a:xfrm>
          <a:prstGeom prst="roundRect">
            <a:avLst>
              <a:gd name="adj" fmla="val 1928"/>
            </a:avLst>
          </a:prstGeom>
          <a:solidFill>
            <a:srgbClr val="F6F8FA"/>
          </a:solidFill>
          <a:ln w="12700">
            <a:solidFill>
              <a:srgbClr val="E3E7EC"/>
            </a:solidFill>
            <a:prstDash val="solid"/>
          </a:ln>
          <a:effectLst>
            <a:outerShdw blurRad="88900" dist="25400" dir="5400000" algn="bl" rotWithShape="0">
              <a:srgbClr val="AAB1BB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28232" y="2514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DA4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73952" y="29718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Guest localStorage save works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73952" y="335584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Email + Google OAuth sign-in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73952" y="373989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Bookmarklet import on live IULMS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73952" y="412394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Parsing: transcript, attendance, exams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473952" y="4507992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Timetable clash &amp; gap detection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473952" y="48920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Browser ML works with no backend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73952" y="527608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FastAPI /health &amp; /predict + fallback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6473952" y="566013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Mobile responsiveness of all tabs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10088575" y="63550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10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65815" y="38404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3" name="Shape 1"/>
          <p:cNvSpPr/>
          <p:nvPr/>
        </p:nvSpPr>
        <p:spPr>
          <a:xfrm>
            <a:off x="11094415" y="38404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4" name="Shape 2"/>
          <p:cNvSpPr/>
          <p:nvPr/>
        </p:nvSpPr>
        <p:spPr>
          <a:xfrm>
            <a:off x="11323015" y="384048"/>
            <a:ext cx="109728" cy="109728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250D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· ROADMAP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749808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2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Enhancements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F6F8FA"/>
          </a:solidFill>
          <a:ln w="12700">
            <a:solidFill>
              <a:srgbClr val="E3E7EC"/>
            </a:solidFill>
            <a:prstDash val="solid"/>
          </a:ln>
          <a:effectLst>
            <a:outerShdw blurRad="88900" dist="25400" dir="5400000" algn="bl" rotWithShape="0">
              <a:srgbClr val="AAB1BB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2359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C4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</a:t>
            </a: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2834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ML trains on synthetic, not real records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3355848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Accuracy improves with real history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387705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Bookmarklet depends on IULMS HTML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4398264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an official university system (yet)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491947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Advanced features need a VPS / serverless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54406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quality depends on provider &amp; data clarity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53912" y="2194560"/>
            <a:ext cx="53949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3E7EC"/>
            </a:solidFill>
            <a:prstDash val="solid"/>
          </a:ln>
          <a:effectLst>
            <a:outerShdw blurRad="88900" dist="25400" dir="5400000" algn="bl" rotWithShape="0">
              <a:srgbClr val="AAB1BB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28232" y="235915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</a:t>
            </a:r>
            <a:r>
              <a:rPr lang="en-US" sz="1500" b="1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473952" y="28346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Train ML on real (anonymized) records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73952" y="32918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Admin panel + stronger prerequisite engine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73952" y="37490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PDF report export for students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73952" y="42062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Attendance / exam / deadline reminders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73952" y="46634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GPA, attendance &amp; workload trend charts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73952" y="51206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Delete-account &amp; delete-data options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73952" y="557784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PWA / mobile-app wrapper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88575" y="63550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11 / 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1F24"/>
          </a:solidFill>
          <a:ln/>
        </p:spPr>
      </p:sp>
      <p:sp>
        <p:nvSpPr>
          <p:cNvPr id="3" name="Shape 1"/>
          <p:cNvSpPr/>
          <p:nvPr/>
        </p:nvSpPr>
        <p:spPr>
          <a:xfrm>
            <a:off x="10865815" y="384048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4" name="Shape 2"/>
          <p:cNvSpPr/>
          <p:nvPr/>
        </p:nvSpPr>
        <p:spPr>
          <a:xfrm>
            <a:off x="11094415" y="384048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5" name="Shape 3"/>
          <p:cNvSpPr/>
          <p:nvPr/>
        </p:nvSpPr>
        <p:spPr>
          <a:xfrm>
            <a:off x="11323015" y="384048"/>
            <a:ext cx="109728" cy="109728"/>
          </a:xfrm>
          <a:prstGeom prst="ellipse">
            <a:avLst/>
          </a:prstGeom>
          <a:solidFill>
            <a:srgbClr val="2DA44E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5029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./conclusion --summary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371600"/>
            <a:ext cx="10515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clearer view of every</a:t>
            </a:r>
            <a:endParaRPr lang="en-US" sz="4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student's semester.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IUSemPlanner.ai turns scattered IULMS data into smart, actionable guidance — combining import, clean dashboards, analytics, AI tips and ANN prediction. Realistic to deploy on static hosting, and ready to grow into a full student-success platform.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4434840"/>
            <a:ext cx="3291840" cy="1325880"/>
          </a:xfrm>
          <a:prstGeom prst="roundRect">
            <a:avLst>
              <a:gd name="adj" fmla="val 5517"/>
            </a:avLst>
          </a:prstGeom>
          <a:solidFill>
            <a:srgbClr val="24292F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45262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2DA4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914400" y="528523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 input features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233672" y="4434840"/>
            <a:ext cx="3291840" cy="1325880"/>
          </a:xfrm>
          <a:prstGeom prst="roundRect">
            <a:avLst>
              <a:gd name="adj" fmla="val 5517"/>
            </a:avLst>
          </a:prstGeom>
          <a:solidFill>
            <a:srgbClr val="24292F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7992" y="45262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2DA4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600" dirty="0"/>
          </a:p>
        </p:txBody>
      </p:sp>
      <p:sp>
        <p:nvSpPr>
          <p:cNvPr id="14" name="Text 12"/>
          <p:cNvSpPr/>
          <p:nvPr/>
        </p:nvSpPr>
        <p:spPr>
          <a:xfrm>
            <a:off x="4507992" y="528523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tabs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827264" y="4434840"/>
            <a:ext cx="3291840" cy="1325880"/>
          </a:xfrm>
          <a:prstGeom prst="roundRect">
            <a:avLst>
              <a:gd name="adj" fmla="val 5517"/>
            </a:avLst>
          </a:prstGeom>
          <a:solidFill>
            <a:srgbClr val="24292F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01584" y="452628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2DA44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600" dirty="0"/>
          </a:p>
        </p:txBody>
      </p:sp>
      <p:sp>
        <p:nvSpPr>
          <p:cNvPr id="17" name="Text 15"/>
          <p:cNvSpPr/>
          <p:nvPr/>
        </p:nvSpPr>
        <p:spPr>
          <a:xfrm>
            <a:off x="8101584" y="5285232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backends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Live: </a:t>
            </a:r>
            <a:r>
              <a:rPr lang="en-US" sz="1250" b="1" dirty="0">
                <a:solidFill>
                  <a:srgbClr val="2DA4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ctrlaltimran.com/IUSemPlanner</a:t>
            </a:r>
            <a:r>
              <a:rPr lang="en-US" sz="12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·   Iqra University   ·   Sir Muhammad Farhan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1518</Words>
  <Application>Microsoft Office PowerPoint</Application>
  <PresentationFormat>Widescreen</PresentationFormat>
  <Paragraphs>263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</cp:lastModifiedBy>
  <cp:revision>2</cp:revision>
  <dcterms:created xsi:type="dcterms:W3CDTF">2026-06-14T09:44:43Z</dcterms:created>
  <dcterms:modified xsi:type="dcterms:W3CDTF">2026-06-21T09:46:50Z</dcterms:modified>
</cp:coreProperties>
</file>