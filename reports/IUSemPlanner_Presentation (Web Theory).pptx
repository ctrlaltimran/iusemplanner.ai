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0865815" y="3840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094415" y="3840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323015" y="384048"/>
            <a:ext cx="109728" cy="109728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~/iqra-university/projects $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IUSemPlanner</a:t>
            </a:r>
            <a:pPr indent="0" marL="0">
              <a:buNone/>
            </a:pPr>
            <a:r>
              <a:rPr lang="en-US" sz="6000" b="1" dirty="0">
                <a:solidFill>
                  <a:srgbClr val="2DA4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.ai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Student Dashboard for Iqra University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6949440" cy="2148840"/>
          </a:xfrm>
          <a:prstGeom prst="roundRect">
            <a:avLst>
              <a:gd name="adj" fmla="val 2553"/>
            </a:avLst>
          </a:prstGeom>
          <a:solidFill>
            <a:srgbClr val="F6F8FA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82219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project </a:t>
            </a:r>
            <a:pPr algn="l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algn="l" indent="0" marL="0">
              <a:buNone/>
            </a:pPr>
            <a:r>
              <a:rPr lang="en-US" sz="120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"Academic planning + ANN prediction"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27939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stack   </a:t>
            </a:r>
            <a:pPr algn="l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algn="l" indent="0" marL="0">
              <a:buNone/>
            </a:pPr>
            <a:r>
              <a:rPr lang="en-US" sz="120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"HTML · CSS · Vanilla JS · Supabase"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73659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ml       </a:t>
            </a:r>
            <a:pPr algn="l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algn="l" indent="0" marL="0">
              <a:buNone/>
            </a:pPr>
            <a:r>
              <a:rPr lang="en-US" sz="120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"Browser ANN + optional FastAPI"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519379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live      </a:t>
            </a:r>
            <a:pPr algn="l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algn="l" indent="0" marL="0">
              <a:buNone/>
            </a:pPr>
            <a:r>
              <a:rPr lang="en-US" sz="120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"ctrlaltimran.com/IUSemPlanner"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36118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0" y="3822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0" y="42062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Imran Murtaza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65196
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Raza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63234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Muhammad Farhan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88575" y="6355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3840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11094415" y="3840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11323015" y="384048"/>
            <a:ext cx="109728" cy="109728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CONTEXT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Scattered Academic Data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Iqra University, IULMS holds the data — but students must hop across many pages and calculate everything by hand.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258775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6F8FA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260604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CGPA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6112" y="3200400"/>
            <a:ext cx="2944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recalculate GPA &amp; CGPA by hand — slow and error-prone.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25696" y="2331720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81728" y="258775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6F8FA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40096" y="260604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risk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81728" y="3200400"/>
            <a:ext cx="2944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Debar/attendance danger is noticed too late to fix.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11312" y="2331720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67344" y="258775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6F8FA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67344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25712" y="260604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Clashing schedules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67344" y="3200400"/>
            <a:ext cx="2944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clashes, long gaps &amp; heavy days go unseen at registration.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315968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96112" y="4572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6F8FA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554480" y="4590288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prerequisites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96112" y="5184648"/>
            <a:ext cx="2944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which completed courses unlock future ones.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25696" y="4315968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81728" y="4572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6F8FA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1728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340096" y="4590288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hopping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681728" y="5184648"/>
            <a:ext cx="2944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Transcript, attendance, marks &amp; exams live on separate IULMS pages.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11312" y="4315968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467344" y="4572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6F8FA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67344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125712" y="4590288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decisions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467344" y="5184648"/>
            <a:ext cx="2944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bad registration choices, burnout, missed risks.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088575" y="6355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3840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11094415" y="3840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11323015" y="384048"/>
            <a:ext cx="109728" cy="109728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SOLUTION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Smart Dashboard, One Click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web app: log in to IULMS, run a bookmarklet, and raw academic data becomes cards, charts, warnings &amp; predictions.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5074920" cy="3749040"/>
          </a:xfrm>
          <a:prstGeom prst="roundRect">
            <a:avLst>
              <a:gd name="adj" fmla="val 1463"/>
            </a:avLst>
          </a:prstGeom>
          <a:solidFill>
            <a:srgbClr val="F6F8FA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how-it-works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Open IUSemPlanner.ai (guest or login)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Click bookmarklet inside IULMS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Import profile · transcript · attendance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Save to localStorage (+ Supabase sync)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4937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Analytics + ML generate insights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5440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Dashboard renders GPA · risk · plan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89320" y="2331720"/>
            <a:ext cx="5559552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63640" y="2542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OBJECTIVES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29443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294436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transcript, GPA, attendance, timetable &amp; exams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263640" y="33741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29400" y="3374136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IULMS data via one-click bookmarklet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63640" y="38039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29400" y="3803904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clashes, long gaps, empty &amp; heavy days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263640" y="4233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0" y="423367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semester GPA and projected CGPA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26364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29400" y="46634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early on attendance &amp; academic risk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263640" y="50932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29400" y="509320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answering from student's own context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263640" y="55229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29400" y="5522976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login + cloud sync across devices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0088575" y="6355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3840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11094415" y="3840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11323015" y="384048"/>
            <a:ext cx="109728" cy="109728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SCOPE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System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helper tool that reads the student's own data and presents it better — it does not replace the official IULMS portal.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539496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560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30175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Profile &amp; transcript import from IULMS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339242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Attendance tracking with risk labels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37673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Weekly timetable &amp; current courses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0120" y="414223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Midterm + exam schedule import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" y="451713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CGPA &amp; semester GPA prediction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0120" y="48920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Searchable course knowledge base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60120" y="526694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Planner: gap &amp; clash detection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60120" y="56418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summary, chat + Supabase cloud sync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53912" y="2331720"/>
            <a:ext cx="5394960" cy="3794760"/>
          </a:xfrm>
          <a:prstGeom prst="roundRect">
            <a:avLst>
              <a:gd name="adj" fmla="val 1928"/>
            </a:avLst>
          </a:prstGeom>
          <a:solidFill>
            <a:srgbClr val="F6F8FA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28232" y="2560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C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73952" y="30632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Does NOT modify official IULMS records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73952" y="372160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Does NOT register courses for the student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73952" y="437997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 trained on synthetic data, not real records (yet)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73952" y="503834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an official university product (unless adopted)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73952" y="5623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as an honest, supplementary academic-success tool.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88575" y="6355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3840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11094415" y="3840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11323015" y="384048"/>
            <a:ext cx="109728" cy="109728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STACK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but lightweight — runs on plain static hosting, scales up to a VPS ML backend when needed.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468880"/>
            <a:ext cx="128016" cy="128016"/>
          </a:xfrm>
          <a:prstGeom prst="ellipse">
            <a:avLst/>
          </a:prstGeom>
          <a:solidFill>
            <a:srgbClr val="0969DA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386584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2697480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iOS-style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990088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responsive cards, tabs &amp; mobile UI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25696" y="2240280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54296" y="2468880"/>
            <a:ext cx="128016" cy="128016"/>
          </a:xfrm>
          <a:prstGeom prst="ellipse">
            <a:avLst/>
          </a:prstGeom>
          <a:solidFill>
            <a:srgbClr val="BC4C00"/>
          </a:solidFill>
          <a:ln/>
        </p:spPr>
      </p:sp>
      <p:sp>
        <p:nvSpPr>
          <p:cNvPr id="15" name="Text 13"/>
          <p:cNvSpPr/>
          <p:nvPr/>
        </p:nvSpPr>
        <p:spPr>
          <a:xfrm>
            <a:off x="4882896" y="2386584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54296" y="2697480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JavaScript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54296" y="2990088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parsing, rendering, analytics &amp; ML engine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11312" y="2240280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39912" y="2468880"/>
            <a:ext cx="128016" cy="128016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20" name="Text 18"/>
          <p:cNvSpPr/>
          <p:nvPr/>
        </p:nvSpPr>
        <p:spPr>
          <a:xfrm>
            <a:off x="8668512" y="2386584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439912" y="2697480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39912" y="2990088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Email/password, sessions &amp; Google OAuth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776472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4005072"/>
            <a:ext cx="128016" cy="128016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3922776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68680" y="4233672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 (JSONB)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452628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JSON row of full app state per user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25696" y="3776472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54296" y="4005072"/>
            <a:ext cx="128016" cy="128016"/>
          </a:xfrm>
          <a:prstGeom prst="ellipse">
            <a:avLst/>
          </a:prstGeom>
          <a:solidFill>
            <a:srgbClr val="0969DA"/>
          </a:solidFill>
          <a:ln/>
        </p:spPr>
      </p:sp>
      <p:sp>
        <p:nvSpPr>
          <p:cNvPr id="30" name="Text 28"/>
          <p:cNvSpPr/>
          <p:nvPr/>
        </p:nvSpPr>
        <p:spPr>
          <a:xfrm>
            <a:off x="4882896" y="3922776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654296" y="4233672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localStorage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54296" y="452628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guest-mode saving, works offline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11312" y="3776472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439912" y="4005072"/>
            <a:ext cx="128016" cy="128016"/>
          </a:xfrm>
          <a:prstGeom prst="ellipse">
            <a:avLst/>
          </a:prstGeom>
          <a:solidFill>
            <a:srgbClr val="BC4C00"/>
          </a:solidFill>
          <a:ln/>
        </p:spPr>
      </p:sp>
      <p:sp>
        <p:nvSpPr>
          <p:cNvPr id="35" name="Text 33"/>
          <p:cNvSpPr/>
          <p:nvPr/>
        </p:nvSpPr>
        <p:spPr>
          <a:xfrm>
            <a:off x="8668512" y="3922776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 — Browser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439912" y="4233672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JS ANN (js/ml.js)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439912" y="452628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Neural-network ensemble runs in the browser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5312664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68680" y="5541264"/>
            <a:ext cx="128016" cy="128016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40" name="Text 38"/>
          <p:cNvSpPr/>
          <p:nvPr/>
        </p:nvSpPr>
        <p:spPr>
          <a:xfrm>
            <a:off x="1097280" y="5458968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 — Backend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68680" y="5769864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scikit-learn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68680" y="6062472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/health &amp; /predict on a VPS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425696" y="5312664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54296" y="5541264"/>
            <a:ext cx="128016" cy="128016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45" name="Text 43"/>
          <p:cNvSpPr/>
          <p:nvPr/>
        </p:nvSpPr>
        <p:spPr>
          <a:xfrm>
            <a:off x="4882896" y="5458968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Module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4654296" y="5769864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JS AI calls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654296" y="6062472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summaries, tips &amp; chat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088575" y="6355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3840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11094415" y="3840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11323015" y="384048"/>
            <a:ext cx="109728" cy="109728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ARCHITECTURE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modular, client-first design. The frontend does the heavy lifting; Supabase and the FastAPI ML API are optional add-ons.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17720" y="370332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6F8FA"/>
          </a:solidFill>
          <a:ln w="19050">
            <a:solidFill>
              <a:srgbClr val="2DA44E"/>
            </a:solidFill>
            <a:prstDash val="solid"/>
          </a:ln>
          <a:effectLst>
            <a:outerShdw sx="100000" sy="100000" kx="0" ky="0" algn="bl" rotWithShape="0" blurRad="76200" dist="25400" dir="5400000">
              <a:srgbClr val="AAB1BB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381304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BROWSER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420624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app · stores state · executes bookmarklet · runs ANN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228600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BC4C00"/>
            </a:solidFill>
            <a:prstDash val="solid"/>
          </a:ln>
          <a:effectLst>
            <a:outerShdw sx="100000" sy="100000" kx="0" ky="0" algn="bl" rotWithShape="0" blurRad="76200" dist="25400" dir="5400000">
              <a:srgbClr val="AAB1BB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239572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IULMS PORTAL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278892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source of academic data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99048" y="3246120"/>
            <a:ext cx="0" cy="457200"/>
          </a:xfrm>
          <a:prstGeom prst="line">
            <a:avLst/>
          </a:prstGeom>
          <a:noFill/>
          <a:ln w="19050">
            <a:solidFill>
              <a:srgbClr val="5B6470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400800" y="3291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bookmarklet import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22960" y="370332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0969DA"/>
            </a:solidFill>
            <a:prstDash val="solid"/>
          </a:ln>
          <a:effectLst>
            <a:outerShdw sx="100000" sy="100000" kx="0" ky="0" algn="bl" rotWithShape="0" blurRad="76200" dist="25400" dir="5400000">
              <a:srgbClr val="AAB1BB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8130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FRONTEND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206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· styles.css · js/* modules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4270248"/>
            <a:ext cx="-1051560" cy="0"/>
          </a:xfrm>
          <a:prstGeom prst="line">
            <a:avLst/>
          </a:prstGeom>
          <a:noFill/>
          <a:ln w="19050">
            <a:solidFill>
              <a:srgbClr val="5B647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331720" y="544068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8250DF"/>
            </a:solidFill>
            <a:prstDash val="solid"/>
          </a:ln>
          <a:effectLst>
            <a:outerShdw sx="100000" sy="100000" kx="0" ky="0" algn="bl" rotWithShape="0" blurRad="76200" dist="25400" dir="5400000">
              <a:srgbClr val="AAB1BB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423160" y="555040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423160" y="59436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(Google/email) + JSONB cloud sync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120640" y="4846320"/>
            <a:ext cx="-914400" cy="594360"/>
          </a:xfrm>
          <a:prstGeom prst="line">
            <a:avLst/>
          </a:prstGeom>
          <a:noFill/>
          <a:ln w="19050">
            <a:solidFill>
              <a:srgbClr val="5B647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544068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DA44E"/>
            </a:solidFill>
            <a:prstDash val="solid"/>
          </a:ln>
          <a:effectLst>
            <a:outerShdw sx="100000" sy="100000" kx="0" ky="0" algn="bl" rotWithShape="0" blurRad="76200" dist="25400" dir="5400000">
              <a:srgbClr val="AAB1BB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49440" y="555040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FASTAPI ML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49440" y="59436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· /predict · scikit-learn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766560" y="4846320"/>
            <a:ext cx="1097280" cy="594360"/>
          </a:xfrm>
          <a:prstGeom prst="line">
            <a:avLst/>
          </a:prstGeom>
          <a:noFill/>
          <a:ln w="19050">
            <a:solidFill>
              <a:srgbClr val="5B647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641080" y="370332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BC4C00"/>
            </a:solidFill>
            <a:prstDash val="solid"/>
          </a:ln>
          <a:effectLst>
            <a:outerShdw sx="100000" sy="100000" kx="0" ky="0" algn="bl" rotWithShape="0" blurRad="76200" dist="25400" dir="5400000">
              <a:srgbClr val="AAB1BB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732520" y="38130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ANN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732520" y="4206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ML engine — no server required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589520" y="4270248"/>
            <a:ext cx="1051560" cy="0"/>
          </a:xfrm>
          <a:prstGeom prst="line">
            <a:avLst/>
          </a:prstGeom>
          <a:noFill/>
          <a:ln w="19050">
            <a:solidFill>
              <a:srgbClr val="5B6470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822960" y="6510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Dotted boxes are optional — app works fully offline in guest mode.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88575" y="6355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3840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11094415" y="3840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11323015" y="384048"/>
            <a:ext cx="109728" cy="109728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FRONTEND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Design &amp; Implementation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part of the system — a tab-based dashboard where each tab serves a distinct academic need.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4572000" cy="3840480"/>
          </a:xfrm>
          <a:prstGeom prst="roundRect">
            <a:avLst>
              <a:gd name="adj" fmla="val 1429"/>
            </a:avLst>
          </a:prstGeom>
          <a:solidFill>
            <a:srgbClr val="F6F8FA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4505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js/  — module map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8529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</a:t>
            </a:r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 · auth · ML orchestration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325526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views.js</a:t>
            </a:r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renders tabs, modals &amp; ML Lab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6576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parser.js</a:t>
            </a:r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parses IULMS payloads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405993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bookmarklet.js</a:t>
            </a:r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scrapes IULMS pages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44622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analytics.js</a:t>
            </a:r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GPA · risk · gaps · clashes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48646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ai.js</a:t>
            </a:r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builds context, calls AI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526694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ml.js</a:t>
            </a:r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browser ANN + VPS client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14400" y="56692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supabase.js</a:t>
            </a:r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cloud load / save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06440" y="228600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07608" y="24048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07608" y="27249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+ warning cards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805672" y="228600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006840" y="24048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06840" y="27249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IULMS schedule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806440" y="3355848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07608" y="3474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07608" y="3794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vs pending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805672" y="3355848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006840" y="3474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006840" y="3794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· credits · GPA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806440" y="4425696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007608" y="45445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07608" y="48646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knowledge base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805672" y="4425696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006840" y="45445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006840" y="48646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Gaps, clashes &amp; decisions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806440" y="5495544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007608" y="56144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007608" y="593445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Data-aware chat &amp; summary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805672" y="5495544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006840" y="56144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ML/ANN Lab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006840" y="593445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grade predictor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0088575" y="6355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3840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11094415" y="3840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11323015" y="384048"/>
            <a:ext cx="109728" cy="109728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BACKEND + DATA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&amp; Database Design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backends: Supabase for accounts &amp; storage, and an optional FastAPI service for ML. Data is stored as one JSON blob per user.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5852160" cy="3794760"/>
          </a:xfrm>
          <a:prstGeom prst="roundRect">
            <a:avLst>
              <a:gd name="adj" fmla="val 1446"/>
            </a:avLst>
          </a:prstGeom>
          <a:solidFill>
            <a:srgbClr val="F6F8FA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487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user_data — schema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880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</a:t>
            </a:r>
            <a:pPr indent="0" marL="0">
              <a:buNone/>
            </a:pPr>
            <a:r>
              <a:rPr lang="en-US" sz="11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public.user_data (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32095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user_id    </a:t>
            </a:r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 primary key,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5387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       </a:t>
            </a:r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jsonb not null,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38679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updated_at </a:t>
            </a:r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timestamptz );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419709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Row Level Security 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554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 </a:t>
            </a:r>
            <a:pPr indent="0" marL="0">
              <a:buNone/>
            </a:pPr>
            <a:r>
              <a:rPr lang="en-US" sz="1150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"read own"  </a:t>
            </a:r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auth.uid()=user_id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14400" y="5184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 </a:t>
            </a:r>
            <a:pPr indent="0" marL="0">
              <a:buNone/>
            </a:pPr>
            <a:r>
              <a:rPr lang="en-US" sz="1150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"insert own" </a:t>
            </a:r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check (...)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" y="5513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 </a:t>
            </a:r>
            <a:pPr indent="0" marL="0">
              <a:buNone/>
            </a:pPr>
            <a:r>
              <a:rPr lang="en-US" sz="1150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"update own" </a:t>
            </a:r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(...)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75120" y="2331720"/>
            <a:ext cx="487375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2468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 ENDPOINTS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03720" y="28346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model info, MAE, engine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8 features → grade pts + uncertainty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75120" y="4297680"/>
            <a:ext cx="487375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0372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JSONB?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03720" y="47731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is user- and dashboard-specific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03720" y="511149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Keeps the database simple to manage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903720" y="544982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new fields without schema changes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03720" y="578815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Frontend already holds full state as one blob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088575" y="6355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3840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11094415" y="3840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11323015" y="384048"/>
            <a:ext cx="109728" cy="109728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MACHINE LEARNING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/ ANN Module (v2.4)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feed-forward Artificial Neural Network (MLP) predicts academic performance from current marks, attendance &amp; history.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10908792" cy="1143000"/>
          </a:xfrm>
          <a:prstGeom prst="roundRect">
            <a:avLst>
              <a:gd name="adj" fmla="val 4800"/>
            </a:avLst>
          </a:prstGeom>
          <a:solidFill>
            <a:srgbClr val="F6F8FA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395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43000" y="2697480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969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6974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83080" y="277977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709928" y="2962656"/>
            <a:ext cx="45720" cy="0"/>
          </a:xfrm>
          <a:prstGeom prst="line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3685032" y="2697480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250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85032" y="26974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25112" y="277977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· tanh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51960" y="2962656"/>
            <a:ext cx="45720" cy="0"/>
          </a:xfrm>
          <a:prstGeom prst="line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6227064" y="2697480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250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7064" y="26974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67144" y="277977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· tanh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93992" y="2962656"/>
            <a:ext cx="45720" cy="0"/>
          </a:xfrm>
          <a:prstGeom prst="line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8769096" y="2697480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DA4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69096" y="26974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409176" y="277977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· linear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863840" y="2395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backprop · </a:t>
            </a:r>
            <a:pPr algn="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5-network ensemble · bootstrap starts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370332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F6F8FA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440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INPUT FEATURES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42245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Midterm /20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520440" y="42245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Quiz /10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14400" y="46360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Project /10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520440" y="46360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Attendance %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14400" y="50474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Prior CGPA /4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20440" y="50474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Credit hours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14400" y="54589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Lab flag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520440" y="54589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Course level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153912" y="370332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28232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 OUTPUTS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28232" y="42245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Expected grade points &amp; letter grade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28232" y="460857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SGPA + projected CGPA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28232" y="499262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Fail risk &amp; attendance/debar risk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28232" y="537667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Confidence score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28232" y="5760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Occlusion-based explainability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0088575" y="6355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3840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11094415" y="3840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11323015" y="384048"/>
            <a:ext cx="109728" cy="109728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PRIVACY + TESTING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Security, Privacy &amp; Validation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only reads the student's own data, never modifies IULMS, and is validated across modes &amp; devices.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539496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514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</a:t>
            </a:r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971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Never changes official IULMS records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34015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Guest mode: data stays in localStorage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383133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Account mode: stored in user's own row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0120" y="426110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Row Level Security isolates each user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" y="469087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Anon public key is safe — RLS controls access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0120" y="5120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 API is stateless — no stored records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60120" y="55504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Public deploys need consent + data-delete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53912" y="2331720"/>
            <a:ext cx="5394960" cy="3794760"/>
          </a:xfrm>
          <a:prstGeom prst="roundRect">
            <a:avLst>
              <a:gd name="adj" fmla="val 1928"/>
            </a:avLst>
          </a:prstGeom>
          <a:solidFill>
            <a:srgbClr val="F6F8FA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28232" y="2514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73952" y="2971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Guest localStorage save works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73952" y="335584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 + Google OAuth sign-in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73952" y="373989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Bookmarklet import on live IULMS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73952" y="412394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Parsing: transcript, attendance, exams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73952" y="45079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Timetable clash &amp; gap detection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73952" y="4892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Browser ML works with no backend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73952" y="52760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FastAPI /health &amp; /predict + fallback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73952" y="566013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responsiveness of all tabs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088575" y="6355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3840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11094415" y="3840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11323015" y="384048"/>
            <a:ext cx="109728" cy="109728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ROADMAP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Enhancements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6F8FA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359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C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834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 trains on synthetic, not real records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33558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Accuracy improves with real history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387705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Bookmarklet depends on IULMS HTML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439826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an official university system (yet)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491947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Advanced features need a VPS / serverless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5440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quality depends on provider &amp; data clarity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53912" y="219456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AB1BB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28232" y="2359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</a:t>
            </a:r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73952" y="28346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 ML on real (anonymized) records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73952" y="32918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panel + stronger prerequisite engine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73952" y="37490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PDF report export for students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73952" y="42062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Attendance / exam / deadline reminders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73952" y="46634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GPA, attendance &amp; workload trend charts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73952" y="51206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Delete-account &amp; delete-data options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73952" y="55778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PWA / mobile-app wrapper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88575" y="6355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/>
        </p:spPr>
      </p:sp>
      <p:sp>
        <p:nvSpPr>
          <p:cNvPr id="3" name="Shape 1"/>
          <p:cNvSpPr/>
          <p:nvPr/>
        </p:nvSpPr>
        <p:spPr>
          <a:xfrm>
            <a:off x="10865815" y="3840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094415" y="3840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323015" y="384048"/>
            <a:ext cx="109728" cy="109728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./conclusion --summary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clearer view of every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student's semester.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IUSemPlanner.ai turns scattered IULMS data into smart, actionable guidance — combining import, clean dashboards, analytics, AI tips and ANN prediction. Realistic to deploy on static hosting, and ready to grow into a full student-success platform.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43484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24292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5262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A4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914400" y="52852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input features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33672" y="443484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24292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45262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A4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4507992" y="52852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tabs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27264" y="443484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24292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01584" y="45262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A4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8101584" y="52852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backends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Live: </a:t>
            </a:r>
            <a:pPr indent="0" marL="0">
              <a:buNone/>
            </a:pPr>
            <a:r>
              <a:rPr lang="en-US" sz="125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ctrlaltimran.com/IUSemPlanner</a:t>
            </a:r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Iqra University   ·   Sir Muhammad Farhan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2026-06-14T09:44:43Z</dcterms:created>
  <dcterms:modified xsi:type="dcterms:W3CDTF">2026-06-14T09:44:43Z</dcterms:modified>
</cp:coreProperties>
</file>